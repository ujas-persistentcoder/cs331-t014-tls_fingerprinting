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legraf Bold" charset="1" panose="00000800000000000000"/>
      <p:regular r:id="rId12"/>
    </p:embeddedFont>
    <p:embeddedFont>
      <p:font typeface="Telegraf" charset="1" panose="000005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07862">
            <a:off x="6110388" y="5304279"/>
            <a:ext cx="15048401" cy="6376760"/>
          </a:xfrm>
          <a:custGeom>
            <a:avLst/>
            <a:gdLst/>
            <a:ahLst/>
            <a:cxnLst/>
            <a:rect r="r" b="b" t="t" l="l"/>
            <a:pathLst>
              <a:path h="6376760" w="15048401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32478" y="7009521"/>
            <a:ext cx="9637365" cy="212578"/>
            <a:chOff x="0" y="0"/>
            <a:chExt cx="2538236" cy="559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true" rot="0">
            <a:off x="-641393" y="-1165054"/>
            <a:ext cx="6732105" cy="4030848"/>
          </a:xfrm>
          <a:custGeom>
            <a:avLst/>
            <a:gdLst/>
            <a:ahLst/>
            <a:cxnLst/>
            <a:rect r="r" b="b" t="t" l="l"/>
            <a:pathLst>
              <a:path h="4030848" w="6732105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645884"/>
            <a:ext cx="11317939" cy="257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b="true" sz="7200" spc="35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TLS FINGERPRINTING</a:t>
            </a:r>
          </a:p>
          <a:p>
            <a:pPr algn="l">
              <a:lnSpc>
                <a:spcPts val="1008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910971"/>
            <a:ext cx="10797967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spc="435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CS331 COMPUTER NETWORKS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501479"/>
            <a:ext cx="255402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 spc="16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Team - 014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84366" y="-196806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931769" y="-392510"/>
            <a:ext cx="7501837" cy="11072020"/>
            <a:chOff x="0" y="0"/>
            <a:chExt cx="1975792" cy="29160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75793" cy="2916088"/>
            </a:xfrm>
            <a:custGeom>
              <a:avLst/>
              <a:gdLst/>
              <a:ahLst/>
              <a:cxnLst/>
              <a:rect r="r" b="b" t="t" l="l"/>
              <a:pathLst>
                <a:path h="2916088" w="1975793">
                  <a:moveTo>
                    <a:pt x="0" y="0"/>
                  </a:moveTo>
                  <a:lnTo>
                    <a:pt x="1975793" y="0"/>
                  </a:lnTo>
                  <a:lnTo>
                    <a:pt x="1975793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7579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431877" y="6332344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0" y="0"/>
                </a:moveTo>
                <a:lnTo>
                  <a:pt x="12760102" y="0"/>
                </a:lnTo>
                <a:lnTo>
                  <a:pt x="12760102" y="5407093"/>
                </a:lnTo>
                <a:lnTo>
                  <a:pt x="0" y="54070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567254" y="403509"/>
            <a:ext cx="12340141" cy="2217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8"/>
              </a:lnSpc>
            </a:pPr>
            <a:r>
              <a:rPr lang="en-US" sz="84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PROBLEM STATEMENT &amp; 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988633" y="-146732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67254" y="2618588"/>
            <a:ext cx="11502842" cy="1003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6"/>
              </a:lnSpc>
              <a:spcBef>
                <a:spcPct val="0"/>
              </a:spcBef>
            </a:pPr>
            <a:r>
              <a:rPr lang="en-US" sz="5490" spc="131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TLS FINGERPRINTING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44795" y="3707561"/>
            <a:ext cx="12774165" cy="620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1444" indent="-290722" lvl="1">
              <a:lnSpc>
                <a:spcPts val="3770"/>
              </a:lnSpc>
              <a:buFont typeface="Arial"/>
              <a:buChar char="•"/>
            </a:pPr>
            <a:r>
              <a:rPr lang="en-US" sz="2693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TLS fingerprinting is the practice of taking plaintext fields prior to encryption from TLS Client and Server hello messages, and hashing them into short, stable, determinitistic identifiers.</a:t>
            </a:r>
          </a:p>
          <a:p>
            <a:pPr algn="just" marL="581444" indent="-290722" lvl="1">
              <a:lnSpc>
                <a:spcPts val="3770"/>
              </a:lnSpc>
              <a:buFont typeface="Arial"/>
              <a:buChar char="•"/>
            </a:pPr>
            <a:r>
              <a:rPr lang="en-US" sz="2693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This project implements two such fingerprinting schemes in two languages, against both offline PCAP files and live traffic:</a:t>
            </a:r>
          </a:p>
          <a:p>
            <a:pPr algn="just" marL="1162887" indent="-387629" lvl="2">
              <a:lnSpc>
                <a:spcPts val="3770"/>
              </a:lnSpc>
              <a:buFont typeface="Arial"/>
              <a:buChar char="⚬"/>
            </a:pPr>
            <a:r>
              <a:rPr lang="en-US" sz="2693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JA3 / JA3S — the original, MD5-based specification.</a:t>
            </a:r>
          </a:p>
          <a:p>
            <a:pPr algn="just" marL="1162887" indent="-387629" lvl="2">
              <a:lnSpc>
                <a:spcPts val="3770"/>
              </a:lnSpc>
              <a:buFont typeface="Arial"/>
              <a:buChar char="⚬"/>
            </a:pPr>
            <a:r>
              <a:rPr lang="en-US" sz="2693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JA4 / JA4S — a newer specification addressing JA3's instability against modern browser randomization.</a:t>
            </a:r>
          </a:p>
          <a:p>
            <a:pPr algn="just" marL="581444" indent="-290722" lvl="1">
              <a:lnSpc>
                <a:spcPts val="3770"/>
              </a:lnSpc>
              <a:buFont typeface="Arial"/>
              <a:buChar char="•"/>
            </a:pPr>
            <a:r>
              <a:rPr lang="en-US" sz="2693" spc="13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The main objective of this project, “TLS Fingerprinting”, is to design, build, cross-validate, and benchmark two independent fingerprinting engines in Python and C++ that process both offline PCAP files and live network traffic to extract, standardise, and match TLS fingerprints.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9950507" y="7177426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50" y="0"/>
                </a:lnTo>
                <a:lnTo>
                  <a:pt x="12701350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784357">
            <a:off x="-575872" y="-647487"/>
            <a:ext cx="7735476" cy="4631616"/>
          </a:xfrm>
          <a:custGeom>
            <a:avLst/>
            <a:gdLst/>
            <a:ahLst/>
            <a:cxnLst/>
            <a:rect r="r" b="b" t="t" l="l"/>
            <a:pathLst>
              <a:path h="4631616" w="7735476">
                <a:moveTo>
                  <a:pt x="0" y="0"/>
                </a:moveTo>
                <a:lnTo>
                  <a:pt x="7735475" y="0"/>
                </a:lnTo>
                <a:lnTo>
                  <a:pt x="7735475" y="4631616"/>
                </a:lnTo>
                <a:lnTo>
                  <a:pt x="0" y="46316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392510"/>
            <a:ext cx="2222584" cy="11072020"/>
            <a:chOff x="0" y="0"/>
            <a:chExt cx="585372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372" cy="2916088"/>
            </a:xfrm>
            <a:custGeom>
              <a:avLst/>
              <a:gdLst/>
              <a:ahLst/>
              <a:cxnLst/>
              <a:rect r="r" b="b" t="t" l="l"/>
              <a:pathLst>
                <a:path h="2916088" w="585372">
                  <a:moveTo>
                    <a:pt x="0" y="0"/>
                  </a:moveTo>
                  <a:lnTo>
                    <a:pt x="585372" y="0"/>
                  </a:lnTo>
                  <a:lnTo>
                    <a:pt x="585372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585372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-1110727" y="-531114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26047" y="8240013"/>
            <a:ext cx="14462658" cy="131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59"/>
              </a:lnSpc>
            </a:pPr>
            <a:r>
              <a:rPr lang="en-US" sz="93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ARCHITECTURE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7375" y="1195958"/>
            <a:ext cx="5390841" cy="6167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Core Engine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Modern C++17 utilizing std::string_view and stack-allocated buffers for zero-copy packet parsing.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Packet Capture &amp; Ingestion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libpcap for live interface capture and PCAP reading in Cpp, dpkt - scapy in python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Prototyping and GUI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Python with scapy and dpkt for handshake synthesis, trace validation, testing and GUI.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Cryptographic Operations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OpenSSL EVP API with recycled thread-local contexts (MD5 for JA3, SHA-256 for JA4).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Classification Store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In-memory Redis database for O(1) signature lookups and live runtime enrollment (-u).</a:t>
            </a:r>
          </a:p>
          <a:p>
            <a:pPr algn="just">
              <a:lnSpc>
                <a:spcPts val="2869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821091" y="1186433"/>
            <a:ext cx="6007499" cy="584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Multi-Segment Handshakes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Reassembles large ClientHello frames (e.g., Post-Quantum key shares) via RFC 1982 modular sequence tracking.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TLS 1.3 Middlebox Compatibility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Detects and strips dummy 6-byte ChangeCipherSpec records to prevent stream desynchronization.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RFC 8701 GREASE Filtering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Strips pseudo-random reserved values (0x?a?a) injected by Chromium to keep hashes deterministic.</a:t>
            </a:r>
          </a:p>
          <a:p>
            <a:pPr algn="just" marL="442594" indent="-221297" lvl="1">
              <a:lnSpc>
                <a:spcPts val="2869"/>
              </a:lnSpc>
              <a:buFont typeface="Arial"/>
              <a:buChar char="•"/>
            </a:pPr>
            <a:r>
              <a:rPr lang="en-US" b="true" sz="204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Extension Permutation</a:t>
            </a:r>
            <a:r>
              <a:rPr lang="en-US" sz="2049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Implements JA4 lexical sorting alongside JA3 to prevent fingerprint drift caused by browser extension shuffling.</a:t>
            </a:r>
          </a:p>
          <a:p>
            <a:pPr algn="just">
              <a:lnSpc>
                <a:spcPts val="286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2279816" y="485774"/>
            <a:ext cx="4979484" cy="54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Wire-Level Cases Handled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24428" y="542290"/>
            <a:ext cx="4582807" cy="54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 Stack &amp; Tooling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25008">
            <a:off x="-467361" y="-2767272"/>
            <a:ext cx="12701350" cy="5382197"/>
          </a:xfrm>
          <a:custGeom>
            <a:avLst/>
            <a:gdLst/>
            <a:ahLst/>
            <a:cxnLst/>
            <a:rect r="r" b="b" t="t" l="l"/>
            <a:pathLst>
              <a:path h="5382197" w="12701350">
                <a:moveTo>
                  <a:pt x="0" y="0"/>
                </a:moveTo>
                <a:lnTo>
                  <a:pt x="12701349" y="0"/>
                </a:lnTo>
                <a:lnTo>
                  <a:pt x="12701349" y="5382197"/>
                </a:lnTo>
                <a:lnTo>
                  <a:pt x="0" y="5382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986204" y="6250419"/>
            <a:ext cx="11514218" cy="8506128"/>
          </a:xfrm>
          <a:custGeom>
            <a:avLst/>
            <a:gdLst/>
            <a:ahLst/>
            <a:cxnLst/>
            <a:rect r="r" b="b" t="t" l="l"/>
            <a:pathLst>
              <a:path h="8506128" w="11514218">
                <a:moveTo>
                  <a:pt x="0" y="0"/>
                </a:moveTo>
                <a:lnTo>
                  <a:pt x="11514218" y="0"/>
                </a:lnTo>
                <a:lnTo>
                  <a:pt x="11514218" y="8506128"/>
                </a:lnTo>
                <a:lnTo>
                  <a:pt x="0" y="85061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59300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371376" y="2181225"/>
            <a:ext cx="13084230" cy="2518714"/>
          </a:xfrm>
          <a:custGeom>
            <a:avLst/>
            <a:gdLst/>
            <a:ahLst/>
            <a:cxnLst/>
            <a:rect r="r" b="b" t="t" l="l"/>
            <a:pathLst>
              <a:path h="2518714" w="13084230">
                <a:moveTo>
                  <a:pt x="0" y="0"/>
                </a:moveTo>
                <a:lnTo>
                  <a:pt x="13084230" y="0"/>
                </a:lnTo>
                <a:lnTo>
                  <a:pt x="13084230" y="2518714"/>
                </a:lnTo>
                <a:lnTo>
                  <a:pt x="0" y="25187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41524" y="6795739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2584" y="4582764"/>
            <a:ext cx="16444766" cy="354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1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Packet Capture</a:t>
            </a: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Captures raw network frames via libpcap and strips Ethernet, IP, and TCP headers in place without copying packet buffers.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1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TCP Reassembly</a:t>
            </a: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Reconstructs fragmented TCP streams into continuous byte buffers and filters out TLS 1.3 middlebox compatibility records.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1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Handshake Parsing</a:t>
            </a: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Extracts cipher suites, extensions, elliptic curves, and ALPN tokens from ClientHello and ServerHello payloads while stripping GREASE values.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504825" y="272415"/>
            <a:ext cx="16238488" cy="1272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MECHANISM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0684" y="1411605"/>
            <a:ext cx="14240973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FROM RAW PACKETS TO CLIENT IDENTIFICATION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0684" y="7788389"/>
            <a:ext cx="10268241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1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Fingerprint Computation</a:t>
            </a: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</a:t>
            </a: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Formats and hashes the extracted parameters into standard JA3 (MD5) and JA4 (sorted hex + SHA-256) strings.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b="true" sz="2000" spc="10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Database Lookup</a:t>
            </a: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: </a:t>
            </a:r>
          </a:p>
          <a:p>
            <a:pPr algn="l" marL="863601" indent="-287867" lvl="2">
              <a:lnSpc>
                <a:spcPts val="2800"/>
              </a:lnSpc>
              <a:buFont typeface="Arial"/>
              <a:buChar char="⚬"/>
            </a:pPr>
            <a:r>
              <a:rPr lang="en-US" sz="2000" spc="100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Queries an in-memory Redis store with the computed hash to identify the client application or library.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2273262" y="831248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8865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376" y="2470227"/>
            <a:ext cx="11602271" cy="1521052"/>
            <a:chOff x="0" y="0"/>
            <a:chExt cx="3055742" cy="400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58376" y="244359"/>
            <a:ext cx="11602271" cy="1982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3"/>
              </a:lnSpc>
            </a:pPr>
            <a:r>
              <a:rPr lang="en-US" sz="75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NON-FUNCTIONAL TESTING PARAMETERS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7406" y="-375449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376" y="2635122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1945" y="5654789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09205" y="2685287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b="true" sz="1900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Performance:</a:t>
            </a: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C++ achieves 200-300K packets/sec vs Python's 8K–13.5K packets/sec (up to ~33× speedup), benchmarked over 30 runs per PCAP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51945" y="7453161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58376" y="4238928"/>
            <a:ext cx="11602271" cy="1521052"/>
            <a:chOff x="0" y="0"/>
            <a:chExt cx="3055742" cy="4006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58376" y="4403824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09205" y="4453989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b="true" sz="1900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Scalability:</a:t>
            </a: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Stress-tested at 10,000 packets; C++ sustains near-linear throughput (~300 kpkt/s), Python trades peak scale for stateful correctness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58376" y="6007630"/>
            <a:ext cx="11602271" cy="1521052"/>
            <a:chOff x="0" y="0"/>
            <a:chExt cx="3055742" cy="4006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58376" y="6172526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09205" y="6222691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b="true" sz="1900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Reliability:</a:t>
            </a: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100% classification parity between both engines on all real-world captures; Python survives out-of-order/retransmitted packets, C++ drops the flow on gaps (throughput trade-off)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58376" y="7776332"/>
            <a:ext cx="11602271" cy="1521052"/>
            <a:chOff x="0" y="0"/>
            <a:chExt cx="3055742" cy="4006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58376" y="7941228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09205" y="8158080"/>
            <a:ext cx="8388826" cy="685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b="true" sz="1900" spc="95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Portability:</a:t>
            </a: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 Python is cross-platform; C++ is POSIX-only (libpcap dependency)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14668" y="-3157079"/>
            <a:ext cx="15827806" cy="6707033"/>
          </a:xfrm>
          <a:custGeom>
            <a:avLst/>
            <a:gdLst/>
            <a:ahLst/>
            <a:cxnLst/>
            <a:rect r="r" b="b" t="t" l="l"/>
            <a:pathLst>
              <a:path h="6707033" w="15827806">
                <a:moveTo>
                  <a:pt x="0" y="0"/>
                </a:moveTo>
                <a:lnTo>
                  <a:pt x="15827806" y="0"/>
                </a:lnTo>
                <a:lnTo>
                  <a:pt x="15827806" y="6707033"/>
                </a:lnTo>
                <a:lnTo>
                  <a:pt x="0" y="67070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2120312">
            <a:off x="-2273262" y="8312489"/>
            <a:ext cx="12760102" cy="5407093"/>
          </a:xfrm>
          <a:custGeom>
            <a:avLst/>
            <a:gdLst/>
            <a:ahLst/>
            <a:cxnLst/>
            <a:rect r="r" b="b" t="t" l="l"/>
            <a:pathLst>
              <a:path h="5407093" w="12760102">
                <a:moveTo>
                  <a:pt x="12760102" y="0"/>
                </a:moveTo>
                <a:lnTo>
                  <a:pt x="0" y="0"/>
                </a:lnTo>
                <a:lnTo>
                  <a:pt x="0" y="5407093"/>
                </a:lnTo>
                <a:lnTo>
                  <a:pt x="12760102" y="5407093"/>
                </a:lnTo>
                <a:lnTo>
                  <a:pt x="127601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08865" y="-392510"/>
            <a:ext cx="1437565" cy="11072020"/>
            <a:chOff x="0" y="0"/>
            <a:chExt cx="378618" cy="29160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78618" cy="2916088"/>
            </a:xfrm>
            <a:custGeom>
              <a:avLst/>
              <a:gdLst/>
              <a:ahLst/>
              <a:cxnLst/>
              <a:rect r="r" b="b" t="t" l="l"/>
              <a:pathLst>
                <a:path h="2916088" w="378618">
                  <a:moveTo>
                    <a:pt x="0" y="0"/>
                  </a:moveTo>
                  <a:lnTo>
                    <a:pt x="378618" y="0"/>
                  </a:lnTo>
                  <a:lnTo>
                    <a:pt x="378618" y="2916088"/>
                  </a:lnTo>
                  <a:lnTo>
                    <a:pt x="0" y="29160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378618" cy="297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376" y="1730963"/>
            <a:ext cx="11602271" cy="1521052"/>
            <a:chOff x="0" y="0"/>
            <a:chExt cx="3055742" cy="4006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58376" y="244359"/>
            <a:ext cx="11602271" cy="105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3"/>
              </a:lnSpc>
            </a:pPr>
            <a:r>
              <a:rPr lang="en-US" sz="75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CHALLENGES FACED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27406" y="-375449"/>
            <a:ext cx="7273548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8376" y="1895858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351945" y="6082957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09205" y="1946023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Silent handshake drops (C++): Initial TCP reassembly was under-engineered — segments split across packets weren't stitched together, causing missed ClientHellos/ServerHellos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351945" y="7881329"/>
            <a:ext cx="1354994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58376" y="3585389"/>
            <a:ext cx="11602271" cy="1521052"/>
            <a:chOff x="0" y="0"/>
            <a:chExt cx="3055742" cy="40060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58376" y="3750285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09205" y="3800450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JA3 instability: Chrome 107+ randomizes extension order per connection, causing the same browser to produce different JA3 hashes — motivated implementing JA4 (sorts fields before hashing)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58376" y="5439816"/>
            <a:ext cx="11602271" cy="1521052"/>
            <a:chOff x="0" y="0"/>
            <a:chExt cx="3055742" cy="40060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258376" y="5604712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909205" y="5654877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Library trade-off (Python): Switched from Scapy to dpkt mid-project for byte-level control, since Scapy's built-in TLS dissection wasn't auditable against RFC offsets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58376" y="7292253"/>
            <a:ext cx="11602271" cy="1521052"/>
            <a:chOff x="0" y="0"/>
            <a:chExt cx="3055742" cy="40060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55742" cy="400606"/>
            </a:xfrm>
            <a:custGeom>
              <a:avLst/>
              <a:gdLst/>
              <a:ahLst/>
              <a:cxnLst/>
              <a:rect r="r" b="b" t="t" l="l"/>
              <a:pathLst>
                <a:path h="400606" w="3055742">
                  <a:moveTo>
                    <a:pt x="0" y="0"/>
                  </a:moveTo>
                  <a:lnTo>
                    <a:pt x="3055742" y="0"/>
                  </a:lnTo>
                  <a:lnTo>
                    <a:pt x="3055742" y="400606"/>
                  </a:lnTo>
                  <a:lnTo>
                    <a:pt x="0" y="400606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055742" cy="4577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258376" y="7454291"/>
            <a:ext cx="2279878" cy="101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spc="134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09205" y="7507314"/>
            <a:ext cx="8388826" cy="1018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2F7FA"/>
                </a:solidFill>
                <a:latin typeface="Telegraf"/>
                <a:ea typeface="Telegraf"/>
                <a:cs typeface="Telegraf"/>
                <a:sym typeface="Telegraf"/>
              </a:rPr>
              <a:t>Environment-dependent drift: Same client on different machines/OpenSSL versions produces different cipher counts and fingerprints, causing false "Unknown" matches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DAHUgJ0VxEw</dc:identifier>
  <dcterms:modified xsi:type="dcterms:W3CDTF">2011-08-01T06:04:30Z</dcterms:modified>
  <cp:revision>1</cp:revision>
  <dc:title>Blue and White Gradient Modern Project Presentation</dc:title>
</cp:coreProperties>
</file>